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Security – Attacks and Defences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Modular Assignment 3</a:t>
            </a:r>
          </a:p>
          <a:p>
            <a:pPr>
              <a:defRPr sz="2000"/>
            </a:pPr>
            <a:r>
              <a:t>Nitesh Vishwakarma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Understand HTTP/HTTPS and client-server architecture</a:t>
            </a:r>
          </a:p>
          <a:p>
            <a:pPr>
              <a:defRPr sz="2000"/>
            </a:pPr>
            <a:r>
              <a:t>• Study SQL injection, XSS and CSRF</a:t>
            </a:r>
          </a:p>
          <a:p>
            <a:pPr>
              <a:defRPr sz="2000"/>
            </a:pPr>
            <a:r>
              <a:t>• Understand web tracking and privacy</a:t>
            </a:r>
          </a:p>
          <a:p>
            <a:pPr>
              <a:defRPr sz="2000"/>
            </a:pPr>
            <a:r>
              <a:t>• Demonstrate defenses in an authorized training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vs 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HTTP transfers web requests/responses</a:t>
            </a:r>
          </a:p>
          <a:p>
            <a:pPr>
              <a:defRPr sz="2000"/>
            </a:pPr>
            <a:r>
              <a:t>• HTTPS adds TLS protection</a:t>
            </a:r>
          </a:p>
          <a:p>
            <a:pPr>
              <a:defRPr sz="2000"/>
            </a:pPr>
            <a:r>
              <a:t>• TLS encrypts traffic in transit</a:t>
            </a:r>
          </a:p>
          <a:p>
            <a:pPr>
              <a:defRPr sz="2000"/>
            </a:pPr>
            <a:r>
              <a:t>• Certificates help authenticate the server</a:t>
            </a:r>
          </a:p>
          <a:p>
            <a:pPr>
              <a:defRPr sz="2000"/>
            </a:pPr>
            <a:r>
              <a:t>• HTTPS does not replace secure application coding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Cause: unsafe SQL string construction</a:t>
            </a:r>
          </a:p>
          <a:p>
            <a:pPr>
              <a:defRPr sz="2000"/>
            </a:pPr>
            <a:r>
              <a:t>• Demonstrate only in OWASP Juice Shop/local lab</a:t>
            </a:r>
          </a:p>
          <a:p>
            <a:pPr>
              <a:defRPr sz="2000"/>
            </a:pPr>
            <a:r>
              <a:t>• Risk: unintended database operations</a:t>
            </a:r>
          </a:p>
          <a:p>
            <a:pPr>
              <a:defRPr sz="2000"/>
            </a:pPr>
            <a:r>
              <a:t>• Defense: parameterized queries/prepared statements</a:t>
            </a:r>
          </a:p>
          <a:p>
            <a:pPr>
              <a:defRPr sz="2000"/>
            </a:pPr>
            <a:r>
              <a:t>• Additional: validation + least privilege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Reflected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Untrusted input reflected into a response</a:t>
            </a:r>
          </a:p>
          <a:p>
            <a:pPr>
              <a:defRPr sz="2000"/>
            </a:pPr>
            <a:r>
              <a:t>• Browser may interpret unsafe content</a:t>
            </a:r>
          </a:p>
          <a:p>
            <a:pPr>
              <a:defRPr sz="2000"/>
            </a:pPr>
            <a:r>
              <a:t>• Defense: context-aware output encoding</a:t>
            </a:r>
          </a:p>
          <a:p>
            <a:pPr>
              <a:defRPr sz="2000"/>
            </a:pPr>
            <a:r>
              <a:t>• CSP provides defense in depth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Unsafe content is stored and later displayed</a:t>
            </a:r>
          </a:p>
          <a:p>
            <a:pPr>
              <a:defRPr sz="2000"/>
            </a:pPr>
            <a:r>
              <a:t>• Can affect users viewing the content</a:t>
            </a:r>
          </a:p>
          <a:p>
            <a:pPr>
              <a:defRPr sz="2000"/>
            </a:pPr>
            <a:r>
              <a:t>• Defense: safe handling + sanitization where needed</a:t>
            </a:r>
          </a:p>
          <a:p>
            <a:pPr>
              <a:defRPr sz="2000"/>
            </a:pPr>
            <a:r>
              <a:t>• Output encoding + CSP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Victim's browser sends an unwanted authenticated request</a:t>
            </a:r>
          </a:p>
          <a:p>
            <a:pPr>
              <a:defRPr sz="2000"/>
            </a:pPr>
            <a:r>
              <a:t>• Main defense: server-generated anti-CSRF token</a:t>
            </a:r>
          </a:p>
          <a:p>
            <a:pPr>
              <a:defRPr sz="2000"/>
            </a:pPr>
            <a:r>
              <a:t>• Also use SameSite cookies</a:t>
            </a:r>
          </a:p>
          <a:p>
            <a:pPr>
              <a:defRPr sz="2000"/>
            </a:pPr>
            <a:r>
              <a:t>• Consider Origin/Referer checks</a:t>
            </a:r>
          </a:p>
          <a:p>
            <a:pPr>
              <a:defRPr sz="2000"/>
            </a:pPr>
            <a:r>
              <a:t>• Re-authenticate sensitive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Tracking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Cookies and third-party resources can track activity</a:t>
            </a:r>
          </a:p>
          <a:p>
            <a:pPr>
              <a:defRPr sz="2000"/>
            </a:pPr>
            <a:r>
              <a:t>• Advertising pixels and browser storage are examples</a:t>
            </a:r>
          </a:p>
          <a:p>
            <a:pPr>
              <a:defRPr sz="2000"/>
            </a:pPr>
            <a:r>
              <a:t>• Minimize data collection</a:t>
            </a:r>
          </a:p>
          <a:p>
            <a:pPr>
              <a:defRPr sz="2000"/>
            </a:pPr>
            <a:r>
              <a:t>• Limit third-party scripts</a:t>
            </a:r>
          </a:p>
          <a:p>
            <a:pPr>
              <a:defRPr sz="2000"/>
            </a:pPr>
            <a:r>
              <a:t>• Reduce retention and provide meaningful privacy controls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Use deliberately vulnerable/authorized application</a:t>
            </a:r>
          </a:p>
          <a:p>
            <a:pPr>
              <a:defRPr sz="2000"/>
            </a:pPr>
            <a:r>
              <a:t>• Observe normal behavior</a:t>
            </a:r>
          </a:p>
          <a:p>
            <a:pPr>
              <a:defRPr sz="2000"/>
            </a:pPr>
            <a:r>
              <a:t>• Use harmless test input</a:t>
            </a:r>
          </a:p>
          <a:p>
            <a:pPr>
              <a:defRPr sz="2000"/>
            </a:pPr>
            <a:r>
              <a:t>• Record result</a:t>
            </a:r>
          </a:p>
          <a:p>
            <a:pPr>
              <a:defRPr sz="2000"/>
            </a:pPr>
            <a:r>
              <a:t>• Apply mitigation</a:t>
            </a:r>
          </a:p>
          <a:p>
            <a:pPr>
              <a:defRPr sz="2000"/>
            </a:pPr>
            <a:r>
              <a:t>• Repeat test and verify defense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Security needs multiple layers</a:t>
            </a:r>
          </a:p>
          <a:p>
            <a:pPr>
              <a:defRPr sz="2000"/>
            </a:pPr>
            <a:r>
              <a:t>• HTTPS protects transport, not application logic</a:t>
            </a:r>
          </a:p>
          <a:p>
            <a:pPr>
              <a:defRPr sz="2000"/>
            </a:pPr>
            <a:r>
              <a:t>• Parameterized queries prevent SQL injection</a:t>
            </a:r>
          </a:p>
          <a:p>
            <a:pPr>
              <a:defRPr sz="2000"/>
            </a:pPr>
            <a:r>
              <a:t>• Encoding/sanitization reduce XSS</a:t>
            </a:r>
          </a:p>
          <a:p>
            <a:pPr>
              <a:defRPr sz="2000"/>
            </a:pPr>
            <a:r>
              <a:t>• CSRF tokens protect state-changing requests</a:t>
            </a:r>
          </a:p>
          <a:p>
            <a:pPr>
              <a:defRPr sz="2000"/>
            </a:pPr>
            <a:r>
              <a:t>• Privacy should be considered during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OWASP Juice Shop</a:t>
            </a:r>
          </a:p>
          <a:p>
            <a:pPr>
              <a:defRPr sz="2000"/>
            </a:pPr>
            <a:r>
              <a:t>OWASP Web Security Testing Guide</a:t>
            </a:r>
          </a:p>
          <a:p>
            <a:pPr>
              <a:defRPr sz="2000"/>
            </a:pPr>
            <a:r>
              <a:t>SQL Injection Playground</a:t>
            </a:r>
          </a:p>
          <a:p>
            <a:pPr>
              <a:defRPr sz="2000"/>
            </a:pPr>
            <a:r>
              <a:t>XSS Game by Google</a:t>
            </a:r>
          </a:p>
          <a:p>
            <a:pPr>
              <a:defRPr sz="2000"/>
            </a:pPr>
            <a:r>
              <a:t>Web Privacy Measurement Dataset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All demonstrations are intended for authorized training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